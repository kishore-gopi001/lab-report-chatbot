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147478407" r:id="rId3"/>
    <p:sldId id="2147478408" r:id="rId4"/>
    <p:sldId id="2147478411" r:id="rId5"/>
    <p:sldId id="2147478417" r:id="rId6"/>
    <p:sldId id="2147478412" r:id="rId7"/>
    <p:sldId id="2147478413" r:id="rId8"/>
    <p:sldId id="2147478409" r:id="rId9"/>
    <p:sldId id="2147478414" r:id="rId10"/>
    <p:sldId id="2147478410" r:id="rId11"/>
    <p:sldId id="2147478415" r:id="rId12"/>
    <p:sldId id="2147478418" r:id="rId13"/>
    <p:sldId id="2147478416" r:id="rId14"/>
    <p:sldId id="214747841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B1E1"/>
    <a:srgbClr val="04B0BE"/>
    <a:srgbClr val="C94851"/>
    <a:srgbClr val="D02630"/>
    <a:srgbClr val="62343C"/>
    <a:srgbClr val="4074BA"/>
    <a:srgbClr val="4D4FFA"/>
    <a:srgbClr val="F6FAFD"/>
    <a:srgbClr val="EF7079"/>
    <a:srgbClr val="AF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9AEB8C-C34C-4252-8735-CF655769C07C}" v="1" dt="2026-01-06T09:58:22.346"/>
    <p1510:client id="{2A42FB6F-1E9E-385D-8CB6-E421229C3092}" v="71" dt="2026-01-05T11:06:41.478"/>
    <p1510:client id="{2D930B63-6653-1835-D22B-A85CE2E92BFA}" v="19" dt="2026-01-05T13:55:59.861"/>
    <p1510:client id="{7CF5E59B-DE1B-F434-2915-1AC85B281547}" v="10" dt="2026-01-05T15:36:36.129"/>
    <p1510:client id="{8B65B856-3C72-2BE7-0A9D-48160057A443}" v="24" dt="2026-01-05T13:57:57.284"/>
    <p1510:client id="{933EBD09-9F8F-D2E9-B105-5F0BC9062AEA}" v="3" dt="2026-01-06T09:43:57.018"/>
    <p1510:client id="{AD405431-BE0E-65E4-6368-4277D2A6D3B0}" v="7" dt="2026-01-06T04:45:02.524"/>
    <p1510:client id="{BFC4C327-710B-40EA-9E70-633C3731A9F8}" v="192" dt="2026-01-05T13:50:54.4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CFBDC8-915F-4FE1-9F84-8D68E07B95F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9E22E-1950-472E-B3DC-7BE5C28D1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10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89E22E-1950-472E-B3DC-7BE5C28D12E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13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714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8A016-D038-E9DD-58B0-28033C75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57B31-C89E-CBED-D094-37078069A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C49F4-9C44-000D-B4B8-3C3D9C8CDF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F882C-FB6A-8E71-54F2-E756795F0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688F3-834B-81D2-A9F7-6235D2DCE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733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5E12F-AC5A-F430-660B-22BE0D129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77F90-3838-26F9-9791-2D4B4DD7D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700D1-7AA9-A76C-9E51-BD07283CE8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58285-B648-1218-3523-BA540A441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FA421-81DA-F535-EE6B-420199405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17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EBD4D-F392-3A3F-60E2-029289EBE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D1767-B6F4-2042-5DCC-3C361E8FC0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DE66-C6CB-D3C7-AA43-CCA7D0115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8503F-C3DA-D502-315A-3ECFD8264E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40194-7C8E-C293-BA09-D7D3F79FF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881CD-AE4D-7326-C061-8608FC752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126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4D753-DD96-EA6F-600E-75DB9F242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52C24-38CD-3572-A927-0BCA26778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BE63D-F733-7DB0-4EF4-BBD1E6923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FBD2E-8CED-62ED-BEFB-B0B9A9FF4B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E0AF0-22C9-425B-F400-56BB53F362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DFE01F-CD12-D959-8BB9-6D843969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F16184-7B6C-992E-33FD-6C645383A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B10ADB-C4A8-6F1F-6DE0-879548008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721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E6E9D-32C1-4BA5-EC04-C98673FCC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F65589-694B-AC9C-4ECF-948800C34F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4FB5E0-47D3-D37F-AAF2-AFD932542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DF218-CB99-D6A9-5FC6-2006E5011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355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628D66-1360-471C-7078-49E1A6FC33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247114-9953-1449-FE1F-1BB632A29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FBA88-8781-3AD9-160A-2836DD4F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383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6C4E-44CF-811F-FB7C-383439E9B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B677D-0B34-FBFF-2EED-2A5B671B1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9BA05-BF2F-8A43-807D-E5EEC0638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331E9-907B-9B59-F900-9FE26A98B9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B03B6-2197-19B0-5452-8A120E27C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F8FC6-163D-1685-CEF1-78B072D1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11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29977-7366-C095-F623-C71148976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A8FAFA-16EC-B3A0-EE07-C00D6F36AD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E88CC9-5FEA-41D7-CDE7-CDC6DA593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0E2E3-DF6F-1C49-BCAB-E846908E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E4E91-91C2-F479-4186-9FB9D5406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52216-45B5-2400-556F-BC3959BC6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626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9C053-9B6C-F4BE-BFCA-44B1A767F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FE75D1-67EA-42BB-84BC-0387F4D59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82EE1-23BC-3243-8936-28A0E8BADF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C9C47-A4BC-C923-04EC-8090A07AB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E5FB5-4B19-C555-8930-B120AFB27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90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5332C2-6D1E-033E-AED4-C6731BA301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2B690A-DAFA-57E9-5394-E4C395463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D2A3-85E9-CC47-A737-72F2F1A5C7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D1262-7708-7C74-2C51-1E6BF70E0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E0F86-9357-F4D0-AAB3-17EDE78DC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766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4A7587D-336B-E0A2-0571-EB6FB709322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29">
            <a:extLst>
              <a:ext uri="{FF2B5EF4-FFF2-40B4-BE49-F238E27FC236}">
                <a16:creationId xmlns:a16="http://schemas.microsoft.com/office/drawing/2014/main" id="{E0C7B43A-8FED-2CFF-08C0-024FAF46AA84}"/>
              </a:ext>
            </a:extLst>
          </p:cNvPr>
          <p:cNvSpPr/>
          <p:nvPr userDrawn="1"/>
        </p:nvSpPr>
        <p:spPr>
          <a:xfrm>
            <a:off x="-4998" y="0"/>
            <a:ext cx="10505849" cy="810140"/>
          </a:xfrm>
          <a:custGeom>
            <a:avLst/>
            <a:gdLst>
              <a:gd name="connsiteX0" fmla="*/ 0 w 10613950"/>
              <a:gd name="connsiteY0" fmla="*/ 810140 h 810140"/>
              <a:gd name="connsiteX1" fmla="*/ 632954 w 10613950"/>
              <a:gd name="connsiteY1" fmla="*/ 0 h 810140"/>
              <a:gd name="connsiteX2" fmla="*/ 10613950 w 10613950"/>
              <a:gd name="connsiteY2" fmla="*/ 0 h 810140"/>
              <a:gd name="connsiteX3" fmla="*/ 9980996 w 10613950"/>
              <a:gd name="connsiteY3" fmla="*/ 810140 h 810140"/>
              <a:gd name="connsiteX4" fmla="*/ 0 w 10613950"/>
              <a:gd name="connsiteY4" fmla="*/ 810140 h 810140"/>
              <a:gd name="connsiteX0" fmla="*/ 15632 w 9980996"/>
              <a:gd name="connsiteY0" fmla="*/ 799507 h 810140"/>
              <a:gd name="connsiteX1" fmla="*/ 0 w 9980996"/>
              <a:gd name="connsiteY1" fmla="*/ 0 h 810140"/>
              <a:gd name="connsiteX2" fmla="*/ 9980996 w 9980996"/>
              <a:gd name="connsiteY2" fmla="*/ 0 h 810140"/>
              <a:gd name="connsiteX3" fmla="*/ 9348042 w 9980996"/>
              <a:gd name="connsiteY3" fmla="*/ 810140 h 810140"/>
              <a:gd name="connsiteX4" fmla="*/ 15632 w 9980996"/>
              <a:gd name="connsiteY4" fmla="*/ 799507 h 810140"/>
              <a:gd name="connsiteX0" fmla="*/ 8012 w 9980996"/>
              <a:gd name="connsiteY0" fmla="*/ 799507 h 810140"/>
              <a:gd name="connsiteX1" fmla="*/ 0 w 9980996"/>
              <a:gd name="connsiteY1" fmla="*/ 0 h 810140"/>
              <a:gd name="connsiteX2" fmla="*/ 9980996 w 9980996"/>
              <a:gd name="connsiteY2" fmla="*/ 0 h 810140"/>
              <a:gd name="connsiteX3" fmla="*/ 9348042 w 9980996"/>
              <a:gd name="connsiteY3" fmla="*/ 810140 h 810140"/>
              <a:gd name="connsiteX4" fmla="*/ 8012 w 9980996"/>
              <a:gd name="connsiteY4" fmla="*/ 799507 h 810140"/>
              <a:gd name="connsiteX0" fmla="*/ 3249 w 9980996"/>
              <a:gd name="connsiteY0" fmla="*/ 799507 h 810140"/>
              <a:gd name="connsiteX1" fmla="*/ 0 w 9980996"/>
              <a:gd name="connsiteY1" fmla="*/ 0 h 810140"/>
              <a:gd name="connsiteX2" fmla="*/ 9980996 w 9980996"/>
              <a:gd name="connsiteY2" fmla="*/ 0 h 810140"/>
              <a:gd name="connsiteX3" fmla="*/ 9348042 w 9980996"/>
              <a:gd name="connsiteY3" fmla="*/ 810140 h 810140"/>
              <a:gd name="connsiteX4" fmla="*/ 3249 w 9980996"/>
              <a:gd name="connsiteY4" fmla="*/ 799507 h 810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80996" h="810140">
                <a:moveTo>
                  <a:pt x="3249" y="799507"/>
                </a:moveTo>
                <a:cubicBezTo>
                  <a:pt x="578" y="533005"/>
                  <a:pt x="2671" y="266502"/>
                  <a:pt x="0" y="0"/>
                </a:cubicBezTo>
                <a:lnTo>
                  <a:pt x="9980996" y="0"/>
                </a:lnTo>
                <a:lnTo>
                  <a:pt x="9348042" y="810140"/>
                </a:lnTo>
                <a:lnTo>
                  <a:pt x="3249" y="799507"/>
                </a:lnTo>
                <a:close/>
              </a:path>
            </a:pathLst>
          </a:custGeom>
          <a:solidFill>
            <a:srgbClr val="04B0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0087BE1-4F62-7F24-1827-F6A230DC7428}"/>
              </a:ext>
            </a:extLst>
          </p:cNvPr>
          <p:cNvSpPr/>
          <p:nvPr userDrawn="1"/>
        </p:nvSpPr>
        <p:spPr>
          <a:xfrm>
            <a:off x="2992" y="6371246"/>
            <a:ext cx="12189008" cy="488035"/>
          </a:xfrm>
          <a:prstGeom prst="rect">
            <a:avLst/>
          </a:prstGeom>
          <a:solidFill>
            <a:srgbClr val="6234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E1E58381-030B-8CAD-3C8D-B55F19F6BC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04" b="14799"/>
          <a:stretch/>
        </p:blipFill>
        <p:spPr>
          <a:xfrm>
            <a:off x="2833089" y="6354093"/>
            <a:ext cx="6525822" cy="503907"/>
          </a:xfrm>
          <a:prstGeom prst="rect">
            <a:avLst/>
          </a:prstGeom>
        </p:spPr>
      </p:pic>
      <p:sp>
        <p:nvSpPr>
          <p:cNvPr id="44" name="Parallelogram 45">
            <a:extLst>
              <a:ext uri="{FF2B5EF4-FFF2-40B4-BE49-F238E27FC236}">
                <a16:creationId xmlns:a16="http://schemas.microsoft.com/office/drawing/2014/main" id="{5CB65BD0-B0B7-A140-E87F-4CB3DD2C91AC}"/>
              </a:ext>
            </a:extLst>
          </p:cNvPr>
          <p:cNvSpPr/>
          <p:nvPr userDrawn="1"/>
        </p:nvSpPr>
        <p:spPr>
          <a:xfrm>
            <a:off x="2992" y="870126"/>
            <a:ext cx="4771026" cy="45719"/>
          </a:xfrm>
          <a:custGeom>
            <a:avLst/>
            <a:gdLst>
              <a:gd name="connsiteX0" fmla="*/ 0 w 5156789"/>
              <a:gd name="connsiteY0" fmla="*/ 45719 h 45719"/>
              <a:gd name="connsiteX1" fmla="*/ 35720 w 5156789"/>
              <a:gd name="connsiteY1" fmla="*/ 0 h 45719"/>
              <a:gd name="connsiteX2" fmla="*/ 5156789 w 5156789"/>
              <a:gd name="connsiteY2" fmla="*/ 0 h 45719"/>
              <a:gd name="connsiteX3" fmla="*/ 5121069 w 5156789"/>
              <a:gd name="connsiteY3" fmla="*/ 45719 h 45719"/>
              <a:gd name="connsiteX4" fmla="*/ 0 w 5156789"/>
              <a:gd name="connsiteY4" fmla="*/ 45719 h 45719"/>
              <a:gd name="connsiteX0" fmla="*/ 0 w 5156789"/>
              <a:gd name="connsiteY0" fmla="*/ 48100 h 48100"/>
              <a:gd name="connsiteX1" fmla="*/ 388145 w 5156789"/>
              <a:gd name="connsiteY1" fmla="*/ 0 h 48100"/>
              <a:gd name="connsiteX2" fmla="*/ 5156789 w 5156789"/>
              <a:gd name="connsiteY2" fmla="*/ 2381 h 48100"/>
              <a:gd name="connsiteX3" fmla="*/ 5121069 w 5156789"/>
              <a:gd name="connsiteY3" fmla="*/ 48100 h 48100"/>
              <a:gd name="connsiteX4" fmla="*/ 0 w 5156789"/>
              <a:gd name="connsiteY4" fmla="*/ 48100 h 48100"/>
              <a:gd name="connsiteX0" fmla="*/ 0 w 4780551"/>
              <a:gd name="connsiteY0" fmla="*/ 45719 h 48100"/>
              <a:gd name="connsiteX1" fmla="*/ 11907 w 4780551"/>
              <a:gd name="connsiteY1" fmla="*/ 0 h 48100"/>
              <a:gd name="connsiteX2" fmla="*/ 4780551 w 4780551"/>
              <a:gd name="connsiteY2" fmla="*/ 2381 h 48100"/>
              <a:gd name="connsiteX3" fmla="*/ 4744831 w 4780551"/>
              <a:gd name="connsiteY3" fmla="*/ 48100 h 48100"/>
              <a:gd name="connsiteX4" fmla="*/ 0 w 4780551"/>
              <a:gd name="connsiteY4" fmla="*/ 45719 h 48100"/>
              <a:gd name="connsiteX0" fmla="*/ 7143 w 4787694"/>
              <a:gd name="connsiteY0" fmla="*/ 45719 h 48100"/>
              <a:gd name="connsiteX1" fmla="*/ 0 w 4787694"/>
              <a:gd name="connsiteY1" fmla="*/ 0 h 48100"/>
              <a:gd name="connsiteX2" fmla="*/ 4787694 w 4787694"/>
              <a:gd name="connsiteY2" fmla="*/ 2381 h 48100"/>
              <a:gd name="connsiteX3" fmla="*/ 4751974 w 4787694"/>
              <a:gd name="connsiteY3" fmla="*/ 48100 h 48100"/>
              <a:gd name="connsiteX4" fmla="*/ 7143 w 4787694"/>
              <a:gd name="connsiteY4" fmla="*/ 45719 h 48100"/>
              <a:gd name="connsiteX0" fmla="*/ 0 w 4780551"/>
              <a:gd name="connsiteY0" fmla="*/ 43338 h 45719"/>
              <a:gd name="connsiteX1" fmla="*/ 9525 w 4780551"/>
              <a:gd name="connsiteY1" fmla="*/ 0 h 45719"/>
              <a:gd name="connsiteX2" fmla="*/ 4780551 w 4780551"/>
              <a:gd name="connsiteY2" fmla="*/ 0 h 45719"/>
              <a:gd name="connsiteX3" fmla="*/ 4744831 w 4780551"/>
              <a:gd name="connsiteY3" fmla="*/ 45719 h 45719"/>
              <a:gd name="connsiteX4" fmla="*/ 0 w 4780551"/>
              <a:gd name="connsiteY4" fmla="*/ 43338 h 45719"/>
              <a:gd name="connsiteX0" fmla="*/ 0 w 4771026"/>
              <a:gd name="connsiteY0" fmla="*/ 43338 h 45719"/>
              <a:gd name="connsiteX1" fmla="*/ 0 w 4771026"/>
              <a:gd name="connsiteY1" fmla="*/ 0 h 45719"/>
              <a:gd name="connsiteX2" fmla="*/ 4771026 w 4771026"/>
              <a:gd name="connsiteY2" fmla="*/ 0 h 45719"/>
              <a:gd name="connsiteX3" fmla="*/ 4735306 w 4771026"/>
              <a:gd name="connsiteY3" fmla="*/ 45719 h 45719"/>
              <a:gd name="connsiteX4" fmla="*/ 0 w 4771026"/>
              <a:gd name="connsiteY4" fmla="*/ 43338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1026" h="45719">
                <a:moveTo>
                  <a:pt x="0" y="43338"/>
                </a:moveTo>
                <a:lnTo>
                  <a:pt x="0" y="0"/>
                </a:lnTo>
                <a:lnTo>
                  <a:pt x="4771026" y="0"/>
                </a:lnTo>
                <a:lnTo>
                  <a:pt x="4735306" y="45719"/>
                </a:lnTo>
                <a:lnTo>
                  <a:pt x="0" y="43338"/>
                </a:lnTo>
                <a:close/>
              </a:path>
            </a:pathLst>
          </a:custGeom>
          <a:solidFill>
            <a:srgbClr val="C925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Parallelogram 43">
            <a:extLst>
              <a:ext uri="{FF2B5EF4-FFF2-40B4-BE49-F238E27FC236}">
                <a16:creationId xmlns:a16="http://schemas.microsoft.com/office/drawing/2014/main" id="{E1998539-3881-E2A9-E03F-ECFF2CC55EDF}"/>
              </a:ext>
            </a:extLst>
          </p:cNvPr>
          <p:cNvSpPr/>
          <p:nvPr userDrawn="1"/>
        </p:nvSpPr>
        <p:spPr>
          <a:xfrm flipH="1">
            <a:off x="10737404" y="-1281"/>
            <a:ext cx="900442" cy="800191"/>
          </a:xfrm>
          <a:custGeom>
            <a:avLst/>
            <a:gdLst>
              <a:gd name="connsiteX0" fmla="*/ 0 w 1445419"/>
              <a:gd name="connsiteY0" fmla="*/ 800191 h 800191"/>
              <a:gd name="connsiteX1" fmla="*/ 625181 w 1445419"/>
              <a:gd name="connsiteY1" fmla="*/ 0 h 800191"/>
              <a:gd name="connsiteX2" fmla="*/ 1445419 w 1445419"/>
              <a:gd name="connsiteY2" fmla="*/ 0 h 800191"/>
              <a:gd name="connsiteX3" fmla="*/ 820238 w 1445419"/>
              <a:gd name="connsiteY3" fmla="*/ 800191 h 800191"/>
              <a:gd name="connsiteX4" fmla="*/ 0 w 1445419"/>
              <a:gd name="connsiteY4" fmla="*/ 800191 h 800191"/>
              <a:gd name="connsiteX0" fmla="*/ 1087 w 820238"/>
              <a:gd name="connsiteY0" fmla="*/ 800191 h 800191"/>
              <a:gd name="connsiteX1" fmla="*/ 0 w 820238"/>
              <a:gd name="connsiteY1" fmla="*/ 0 h 800191"/>
              <a:gd name="connsiteX2" fmla="*/ 820238 w 820238"/>
              <a:gd name="connsiteY2" fmla="*/ 0 h 800191"/>
              <a:gd name="connsiteX3" fmla="*/ 195057 w 820238"/>
              <a:gd name="connsiteY3" fmla="*/ 800191 h 800191"/>
              <a:gd name="connsiteX4" fmla="*/ 1087 w 820238"/>
              <a:gd name="connsiteY4" fmla="*/ 800191 h 800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0238" h="800191">
                <a:moveTo>
                  <a:pt x="1087" y="800191"/>
                </a:moveTo>
                <a:cubicBezTo>
                  <a:pt x="725" y="533461"/>
                  <a:pt x="362" y="266730"/>
                  <a:pt x="0" y="0"/>
                </a:cubicBezTo>
                <a:lnTo>
                  <a:pt x="820238" y="0"/>
                </a:lnTo>
                <a:lnTo>
                  <a:pt x="195057" y="800191"/>
                </a:lnTo>
                <a:lnTo>
                  <a:pt x="1087" y="800191"/>
                </a:lnTo>
                <a:close/>
              </a:path>
            </a:pathLst>
          </a:custGeom>
          <a:solidFill>
            <a:srgbClr val="C94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FE2E365-AE5B-3D42-A3F0-CC762A8A3979}"/>
              </a:ext>
            </a:extLst>
          </p:cNvPr>
          <p:cNvSpPr/>
          <p:nvPr userDrawn="1"/>
        </p:nvSpPr>
        <p:spPr>
          <a:xfrm>
            <a:off x="11430000" y="0"/>
            <a:ext cx="787400" cy="798910"/>
          </a:xfrm>
          <a:prstGeom prst="rect">
            <a:avLst/>
          </a:prstGeom>
          <a:solidFill>
            <a:srgbClr val="C948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8716CE-2C20-5752-2F33-40E888C3EE8B}"/>
              </a:ext>
            </a:extLst>
          </p:cNvPr>
          <p:cNvSpPr txBox="1"/>
          <p:nvPr userDrawn="1"/>
        </p:nvSpPr>
        <p:spPr>
          <a:xfrm>
            <a:off x="8865629" y="6495400"/>
            <a:ext cx="26553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chemeClr val="bg2"/>
                </a:solidFill>
                <a:latin typeface="Cambria" panose="02040503050406030204" pitchFamily="18" charset="0"/>
              </a:rPr>
              <a:t>2026  - https://www.agilisium.com</a:t>
            </a:r>
            <a:endParaRPr lang="en-US" sz="1200"/>
          </a:p>
        </p:txBody>
      </p:sp>
      <p:sp>
        <p:nvSpPr>
          <p:cNvPr id="63" name="Arrow: Pentagon 62">
            <a:extLst>
              <a:ext uri="{FF2B5EF4-FFF2-40B4-BE49-F238E27FC236}">
                <a16:creationId xmlns:a16="http://schemas.microsoft.com/office/drawing/2014/main" id="{28FCD861-1835-F012-7C9F-89762B104C64}"/>
              </a:ext>
            </a:extLst>
          </p:cNvPr>
          <p:cNvSpPr/>
          <p:nvPr userDrawn="1"/>
        </p:nvSpPr>
        <p:spPr>
          <a:xfrm>
            <a:off x="-30398" y="-19385"/>
            <a:ext cx="644926" cy="824921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Arrow: Pentagon 1024">
            <a:extLst>
              <a:ext uri="{FF2B5EF4-FFF2-40B4-BE49-F238E27FC236}">
                <a16:creationId xmlns:a16="http://schemas.microsoft.com/office/drawing/2014/main" id="{40D55250-F6BB-269C-4BE7-2D3C71A86BD3}"/>
              </a:ext>
            </a:extLst>
          </p:cNvPr>
          <p:cNvSpPr/>
          <p:nvPr userDrawn="1"/>
        </p:nvSpPr>
        <p:spPr>
          <a:xfrm flipH="1">
            <a:off x="11372832" y="6371246"/>
            <a:ext cx="819168" cy="503907"/>
          </a:xfrm>
          <a:prstGeom prst="homePlate">
            <a:avLst/>
          </a:prstGeom>
          <a:solidFill>
            <a:srgbClr val="04B0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3EA77DC2-6617-A4EA-3830-79D89277361E}"/>
              </a:ext>
            </a:extLst>
          </p:cNvPr>
          <p:cNvGrpSpPr/>
          <p:nvPr userDrawn="1"/>
        </p:nvGrpSpPr>
        <p:grpSpPr>
          <a:xfrm>
            <a:off x="0" y="6371246"/>
            <a:ext cx="978408" cy="506139"/>
            <a:chOff x="-318480" y="6371246"/>
            <a:chExt cx="1296888" cy="506139"/>
          </a:xfrm>
        </p:grpSpPr>
        <p:sp>
          <p:nvSpPr>
            <p:cNvPr id="1024" name="Arrow: Pentagon 1023">
              <a:extLst>
                <a:ext uri="{FF2B5EF4-FFF2-40B4-BE49-F238E27FC236}">
                  <a16:creationId xmlns:a16="http://schemas.microsoft.com/office/drawing/2014/main" id="{DCABC408-2172-D8A7-4BC8-E6DE420385D5}"/>
                </a:ext>
              </a:extLst>
            </p:cNvPr>
            <p:cNvSpPr/>
            <p:nvPr userDrawn="1"/>
          </p:nvSpPr>
          <p:spPr>
            <a:xfrm>
              <a:off x="0" y="6371246"/>
              <a:ext cx="978408" cy="503907"/>
            </a:xfrm>
            <a:prstGeom prst="homePlate">
              <a:avLst/>
            </a:prstGeom>
            <a:solidFill>
              <a:srgbClr val="D026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7" name="Arrow: Pentagon 1026">
              <a:extLst>
                <a:ext uri="{FF2B5EF4-FFF2-40B4-BE49-F238E27FC236}">
                  <a16:creationId xmlns:a16="http://schemas.microsoft.com/office/drawing/2014/main" id="{E48B7C1D-BB47-FC2D-5090-6BF520ACEA1E}"/>
                </a:ext>
              </a:extLst>
            </p:cNvPr>
            <p:cNvSpPr/>
            <p:nvPr userDrawn="1"/>
          </p:nvSpPr>
          <p:spPr>
            <a:xfrm>
              <a:off x="-159240" y="6373478"/>
              <a:ext cx="978408" cy="503907"/>
            </a:xfrm>
            <a:prstGeom prst="homePlate">
              <a:avLst/>
            </a:prstGeom>
            <a:solidFill>
              <a:srgbClr val="6234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8" name="Arrow: Pentagon 1027">
              <a:extLst>
                <a:ext uri="{FF2B5EF4-FFF2-40B4-BE49-F238E27FC236}">
                  <a16:creationId xmlns:a16="http://schemas.microsoft.com/office/drawing/2014/main" id="{DE7ABDCC-316B-8655-8300-ED97C4A643D8}"/>
                </a:ext>
              </a:extLst>
            </p:cNvPr>
            <p:cNvSpPr/>
            <p:nvPr userDrawn="1"/>
          </p:nvSpPr>
          <p:spPr>
            <a:xfrm>
              <a:off x="-318480" y="6373478"/>
              <a:ext cx="978408" cy="503907"/>
            </a:xfrm>
            <a:prstGeom prst="homePlate">
              <a:avLst/>
            </a:prstGeom>
            <a:solidFill>
              <a:srgbClr val="04B0B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0" name="Arrow: Pentagon 1029">
            <a:extLst>
              <a:ext uri="{FF2B5EF4-FFF2-40B4-BE49-F238E27FC236}">
                <a16:creationId xmlns:a16="http://schemas.microsoft.com/office/drawing/2014/main" id="{4FDED046-DE3A-6E18-196F-B0CEC5D416A4}"/>
              </a:ext>
            </a:extLst>
          </p:cNvPr>
          <p:cNvSpPr/>
          <p:nvPr userDrawn="1"/>
        </p:nvSpPr>
        <p:spPr>
          <a:xfrm flipH="1">
            <a:off x="11520947" y="6381945"/>
            <a:ext cx="671053" cy="503907"/>
          </a:xfrm>
          <a:prstGeom prst="homePlate">
            <a:avLst/>
          </a:prstGeom>
          <a:solidFill>
            <a:srgbClr val="6234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Arrow: Pentagon 1030">
            <a:extLst>
              <a:ext uri="{FF2B5EF4-FFF2-40B4-BE49-F238E27FC236}">
                <a16:creationId xmlns:a16="http://schemas.microsoft.com/office/drawing/2014/main" id="{5F601B80-6C61-4D19-646B-73FB101D2095}"/>
              </a:ext>
            </a:extLst>
          </p:cNvPr>
          <p:cNvSpPr/>
          <p:nvPr userDrawn="1"/>
        </p:nvSpPr>
        <p:spPr>
          <a:xfrm flipH="1">
            <a:off x="11669062" y="6371246"/>
            <a:ext cx="519946" cy="503907"/>
          </a:xfrm>
          <a:prstGeom prst="homePlate">
            <a:avLst/>
          </a:prstGeom>
          <a:solidFill>
            <a:srgbClr val="D026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2747F67-66DD-1D9A-8396-6CFDFA6E37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0854" y="-29496"/>
            <a:ext cx="975876" cy="97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4205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998" y="1"/>
            <a:ext cx="10505847" cy="810139"/>
            <a:chOff x="0" y="0"/>
            <a:chExt cx="21011693" cy="1620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11642" cy="1620266"/>
            </a:xfrm>
            <a:custGeom>
              <a:avLst/>
              <a:gdLst/>
              <a:ahLst/>
              <a:cxnLst/>
              <a:rect l="l" t="t" r="r" b="b"/>
              <a:pathLst>
                <a:path w="21011642" h="1620266">
                  <a:moveTo>
                    <a:pt x="6858" y="1599057"/>
                  </a:moveTo>
                  <a:cubicBezTo>
                    <a:pt x="1270" y="1066038"/>
                    <a:pt x="5588" y="533019"/>
                    <a:pt x="0" y="0"/>
                  </a:cubicBezTo>
                  <a:lnTo>
                    <a:pt x="21011642" y="0"/>
                  </a:lnTo>
                  <a:lnTo>
                    <a:pt x="19679286" y="1620266"/>
                  </a:lnTo>
                  <a:lnTo>
                    <a:pt x="6858" y="1599057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991" y="6371248"/>
            <a:ext cx="12189009" cy="488035"/>
            <a:chOff x="0" y="0"/>
            <a:chExt cx="24378018" cy="9760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78031" cy="976122"/>
            </a:xfrm>
            <a:custGeom>
              <a:avLst/>
              <a:gdLst/>
              <a:ahLst/>
              <a:cxnLst/>
              <a:rect l="l" t="t" r="r" b="b"/>
              <a:pathLst>
                <a:path w="24378031" h="976122">
                  <a:moveTo>
                    <a:pt x="0" y="0"/>
                  </a:moveTo>
                  <a:lnTo>
                    <a:pt x="24378031" y="0"/>
                  </a:lnTo>
                  <a:lnTo>
                    <a:pt x="24378031" y="976122"/>
                  </a:lnTo>
                  <a:lnTo>
                    <a:pt x="0" y="97612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833091" y="6354096"/>
            <a:ext cx="6525825" cy="503904"/>
            <a:chOff x="0" y="0"/>
            <a:chExt cx="13051650" cy="1007808"/>
          </a:xfrm>
        </p:grpSpPr>
        <p:sp>
          <p:nvSpPr>
            <p:cNvPr id="7" name="Freeform 7" descr="A white text on a black background  Description automatically generated"/>
            <p:cNvSpPr/>
            <p:nvPr/>
          </p:nvSpPr>
          <p:spPr>
            <a:xfrm>
              <a:off x="0" y="0"/>
              <a:ext cx="13051662" cy="1007872"/>
            </a:xfrm>
            <a:custGeom>
              <a:avLst/>
              <a:gdLst/>
              <a:ahLst/>
              <a:cxnLst/>
              <a:rect l="l" t="t" r="r" b="b"/>
              <a:pathLst>
                <a:path w="13051662" h="1007872">
                  <a:moveTo>
                    <a:pt x="0" y="0"/>
                  </a:moveTo>
                  <a:lnTo>
                    <a:pt x="13051662" y="0"/>
                  </a:lnTo>
                  <a:lnTo>
                    <a:pt x="13051662" y="1007872"/>
                  </a:lnTo>
                  <a:lnTo>
                    <a:pt x="0" y="1007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3227" r="-3" b="-52662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991" y="870128"/>
            <a:ext cx="4771028" cy="45720"/>
            <a:chOff x="0" y="0"/>
            <a:chExt cx="9542056" cy="91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42018" cy="91440"/>
            </a:xfrm>
            <a:custGeom>
              <a:avLst/>
              <a:gdLst/>
              <a:ahLst/>
              <a:cxnLst/>
              <a:rect l="l" t="t" r="r" b="b"/>
              <a:pathLst>
                <a:path w="9542018" h="91440">
                  <a:moveTo>
                    <a:pt x="0" y="86614"/>
                  </a:moveTo>
                  <a:lnTo>
                    <a:pt x="0" y="0"/>
                  </a:lnTo>
                  <a:lnTo>
                    <a:pt x="9542018" y="0"/>
                  </a:lnTo>
                  <a:lnTo>
                    <a:pt x="9470517" y="91440"/>
                  </a:lnTo>
                  <a:lnTo>
                    <a:pt x="0" y="86614"/>
                  </a:lnTo>
                  <a:close/>
                </a:path>
              </a:pathLst>
            </a:custGeom>
            <a:solidFill>
              <a:srgbClr val="C9252E"/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737405" y="-1283"/>
            <a:ext cx="900443" cy="800189"/>
            <a:chOff x="0" y="0"/>
            <a:chExt cx="1800885" cy="16003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00860" cy="1600327"/>
            </a:xfrm>
            <a:custGeom>
              <a:avLst/>
              <a:gdLst/>
              <a:ahLst/>
              <a:cxnLst/>
              <a:rect l="l" t="t" r="r" b="b"/>
              <a:pathLst>
                <a:path w="1800860" h="1600327">
                  <a:moveTo>
                    <a:pt x="1798447" y="1600327"/>
                  </a:moveTo>
                  <a:cubicBezTo>
                    <a:pt x="1799209" y="1066927"/>
                    <a:pt x="1800098" y="533400"/>
                    <a:pt x="1800860" y="0"/>
                  </a:cubicBezTo>
                  <a:lnTo>
                    <a:pt x="0" y="0"/>
                  </a:lnTo>
                  <a:lnTo>
                    <a:pt x="1372616" y="1600327"/>
                  </a:lnTo>
                  <a:lnTo>
                    <a:pt x="1798447" y="160032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430000" y="0"/>
            <a:ext cx="787400" cy="798913"/>
            <a:chOff x="0" y="0"/>
            <a:chExt cx="1574800" cy="15978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74800" cy="1597787"/>
            </a:xfrm>
            <a:custGeom>
              <a:avLst/>
              <a:gdLst/>
              <a:ahLst/>
              <a:cxnLst/>
              <a:rect l="l" t="t" r="r" b="b"/>
              <a:pathLst>
                <a:path w="1574800" h="1597787">
                  <a:moveTo>
                    <a:pt x="0" y="0"/>
                  </a:moveTo>
                  <a:lnTo>
                    <a:pt x="1574800" y="0"/>
                  </a:lnTo>
                  <a:lnTo>
                    <a:pt x="1574800" y="1597787"/>
                  </a:lnTo>
                  <a:lnTo>
                    <a:pt x="0" y="1597787"/>
                  </a:lnTo>
                  <a:close/>
                </a:path>
              </a:pathLst>
            </a:custGeom>
            <a:solidFill>
              <a:srgbClr val="C94851"/>
            </a:solid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926589" y="6519532"/>
            <a:ext cx="2533396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0"/>
              </a:lnSpc>
            </a:pPr>
            <a:r>
              <a:rPr lang="en-US" sz="1200">
                <a:solidFill>
                  <a:srgbClr val="E8E8E8"/>
                </a:solidFill>
                <a:latin typeface="Cambria"/>
                <a:ea typeface="Cambria"/>
                <a:cs typeface="Cambria"/>
                <a:sym typeface="Cambria"/>
              </a:rPr>
              <a:t>2026  - https://www.agilisium.com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30397" y="-19386"/>
            <a:ext cx="644925" cy="824922"/>
            <a:chOff x="0" y="0"/>
            <a:chExt cx="1289850" cy="16498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9812" cy="1649730"/>
            </a:xfrm>
            <a:custGeom>
              <a:avLst/>
              <a:gdLst/>
              <a:ahLst/>
              <a:cxnLst/>
              <a:rect l="l" t="t" r="r" b="b"/>
              <a:pathLst>
                <a:path w="1289812" h="1649730">
                  <a:moveTo>
                    <a:pt x="0" y="0"/>
                  </a:moveTo>
                  <a:lnTo>
                    <a:pt x="644906" y="0"/>
                  </a:lnTo>
                  <a:lnTo>
                    <a:pt x="1289812" y="824865"/>
                  </a:lnTo>
                  <a:lnTo>
                    <a:pt x="644906" y="1649730"/>
                  </a:lnTo>
                  <a:lnTo>
                    <a:pt x="0" y="1649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372831" y="6371247"/>
            <a:ext cx="819169" cy="503904"/>
            <a:chOff x="0" y="0"/>
            <a:chExt cx="1638338" cy="10078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38300" cy="1007872"/>
            </a:xfrm>
            <a:custGeom>
              <a:avLst/>
              <a:gdLst/>
              <a:ahLst/>
              <a:cxnLst/>
              <a:rect l="l" t="t" r="r" b="b"/>
              <a:pathLst>
                <a:path w="1638300" h="1007872">
                  <a:moveTo>
                    <a:pt x="1638300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638300" y="1007872"/>
                  </a:lnTo>
                  <a:close/>
                </a:path>
              </a:pathLst>
            </a:custGeom>
            <a:solidFill>
              <a:srgbClr val="04B0BE"/>
            </a:solid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6371248"/>
            <a:ext cx="978408" cy="506139"/>
          </a:xfrm>
          <a:custGeom>
            <a:avLst/>
            <a:gdLst/>
            <a:ahLst/>
            <a:cxnLst/>
            <a:rect l="l" t="t" r="r" b="b"/>
            <a:pathLst>
              <a:path w="1467612" h="759209">
                <a:moveTo>
                  <a:pt x="0" y="0"/>
                </a:moveTo>
                <a:lnTo>
                  <a:pt x="1467612" y="0"/>
                </a:lnTo>
                <a:lnTo>
                  <a:pt x="1467612" y="759209"/>
                </a:lnTo>
                <a:lnTo>
                  <a:pt x="0" y="75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20" name="Group 20"/>
          <p:cNvGrpSpPr/>
          <p:nvPr/>
        </p:nvGrpSpPr>
        <p:grpSpPr>
          <a:xfrm>
            <a:off x="11520945" y="6381947"/>
            <a:ext cx="671055" cy="503904"/>
            <a:chOff x="0" y="0"/>
            <a:chExt cx="1342111" cy="1007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2136" cy="1007872"/>
            </a:xfrm>
            <a:custGeom>
              <a:avLst/>
              <a:gdLst/>
              <a:ahLst/>
              <a:cxnLst/>
              <a:rect l="l" t="t" r="r" b="b"/>
              <a:pathLst>
                <a:path w="1342136" h="1007872">
                  <a:moveTo>
                    <a:pt x="134213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342136" y="1007872"/>
                  </a:lnTo>
                  <a:close/>
                </a:path>
              </a:pathLst>
            </a:custGeom>
            <a:solidFill>
              <a:srgbClr val="62343C"/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669065" y="6371247"/>
            <a:ext cx="519945" cy="503904"/>
            <a:chOff x="0" y="0"/>
            <a:chExt cx="1039889" cy="10078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39876" cy="1007872"/>
            </a:xfrm>
            <a:custGeom>
              <a:avLst/>
              <a:gdLst/>
              <a:ahLst/>
              <a:cxnLst/>
              <a:rect l="l" t="t" r="r" b="b"/>
              <a:pathLst>
                <a:path w="1039876" h="1007872">
                  <a:moveTo>
                    <a:pt x="1039876" y="0"/>
                  </a:moveTo>
                  <a:lnTo>
                    <a:pt x="503936" y="0"/>
                  </a:lnTo>
                  <a:lnTo>
                    <a:pt x="0" y="503936"/>
                  </a:lnTo>
                  <a:lnTo>
                    <a:pt x="503936" y="1007872"/>
                  </a:lnTo>
                  <a:lnTo>
                    <a:pt x="1039876" y="1007872"/>
                  </a:lnTo>
                  <a:close/>
                </a:path>
              </a:pathLst>
            </a:custGeom>
            <a:solidFill>
              <a:srgbClr val="D02630"/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150856" y="-29496"/>
            <a:ext cx="975875" cy="975875"/>
            <a:chOff x="0" y="0"/>
            <a:chExt cx="1951749" cy="19517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51736" cy="1951736"/>
            </a:xfrm>
            <a:custGeom>
              <a:avLst/>
              <a:gdLst/>
              <a:ahLst/>
              <a:cxnLst/>
              <a:rect l="l" t="t" r="r" b="b"/>
              <a:pathLst>
                <a:path w="1951736" h="1951736">
                  <a:moveTo>
                    <a:pt x="0" y="0"/>
                  </a:moveTo>
                  <a:lnTo>
                    <a:pt x="1951736" y="0"/>
                  </a:lnTo>
                  <a:lnTo>
                    <a:pt x="1951736" y="1951736"/>
                  </a:lnTo>
                  <a:lnTo>
                    <a:pt x="0" y="1951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856443" y="1100579"/>
            <a:ext cx="9644380" cy="1715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80"/>
              </a:lnSpc>
              <a:spcBef>
                <a:spcPct val="0"/>
              </a:spcBef>
            </a:pPr>
            <a:r>
              <a:rPr lang="en-US" sz="5733" b="1" dirty="0">
                <a:solidFill>
                  <a:srgbClr val="CA4851"/>
                </a:solidFill>
                <a:latin typeface="Cambria Bold"/>
                <a:ea typeface="Cambria Bold"/>
                <a:cs typeface="Cambria Bold"/>
                <a:sym typeface="Cambria Bold"/>
              </a:rPr>
              <a:t> LAB REPORT INTERPETATION SYSTEM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33091" y="2789321"/>
            <a:ext cx="6279255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867" b="1" dirty="0">
                <a:solidFill>
                  <a:srgbClr val="2C627B"/>
                </a:solidFill>
                <a:latin typeface="Cambria Bold"/>
                <a:ea typeface="Cambria Bold"/>
                <a:cs typeface="Cambria Bold"/>
                <a:sym typeface="Cambria Bold"/>
              </a:rPr>
              <a:t>A Local RAG System for Lab report Insights.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716034" y="3519269"/>
            <a:ext cx="2875955" cy="820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9"/>
              </a:lnSpc>
            </a:pPr>
            <a:r>
              <a:rPr lang="en-US" sz="2733" b="1" dirty="0">
                <a:solidFill>
                  <a:srgbClr val="004AAD"/>
                </a:solidFill>
                <a:latin typeface="Cambria Bold"/>
                <a:ea typeface="Cambria Bold"/>
                <a:cs typeface="Cambria Bold"/>
                <a:sym typeface="Cambria Bold"/>
              </a:rPr>
              <a:t>Presented By,</a:t>
            </a:r>
          </a:p>
          <a:p>
            <a:pPr algn="ctr">
              <a:lnSpc>
                <a:spcPts val="3279"/>
              </a:lnSpc>
              <a:spcBef>
                <a:spcPct val="0"/>
              </a:spcBef>
            </a:pPr>
            <a:r>
              <a:rPr lang="en-US" sz="2733" b="1" dirty="0">
                <a:solidFill>
                  <a:srgbClr val="004AAD"/>
                </a:solidFill>
                <a:latin typeface="Cambria Bold"/>
                <a:ea typeface="Cambria Bold"/>
                <a:cs typeface="Cambria Bold"/>
                <a:sym typeface="Cambria Bold"/>
              </a:rPr>
              <a:t>KISHORE GOPI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A86AB2-42D3-DC7F-4D94-AA679B36E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C2DFE0-BCDA-F7E8-DBA1-9B9956E3F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DED12E-9B39-4D8A-F97B-B71EF42CF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38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CAD0C1-7A1A-8E07-FF82-8F41913B12E9}"/>
              </a:ext>
            </a:extLst>
          </p:cNvPr>
          <p:cNvSpPr txBox="1"/>
          <p:nvPr/>
        </p:nvSpPr>
        <p:spPr>
          <a:xfrm>
            <a:off x="2183130" y="1108782"/>
            <a:ext cx="69265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dirty="0">
                <a:effectLst/>
                <a:latin typeface="Segoe WPC"/>
              </a:rPr>
              <a:t>              Lab Report Interpretation System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043AB6-E704-B496-C1EA-02CA969F318E}"/>
              </a:ext>
            </a:extLst>
          </p:cNvPr>
          <p:cNvSpPr txBox="1"/>
          <p:nvPr/>
        </p:nvSpPr>
        <p:spPr>
          <a:xfrm>
            <a:off x="1796636" y="2006996"/>
            <a:ext cx="9121140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AI-Powered Clinical Insight &amp; Safety Validation Platform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/>
                </a:solidFill>
              </a:rPr>
              <a:t>Key Highlights: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Converts raw lab reports into interpretable insights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Detects abnormal &amp; critical values automatically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Uses AI safely (no diagnosis)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Fully local &amp; privacy-preserving system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4"/>
                </a:solidFill>
              </a:rPr>
              <a:t>Technologies:</a:t>
            </a:r>
          </a:p>
          <a:p>
            <a:pPr>
              <a:lnSpc>
                <a:spcPct val="150000"/>
              </a:lnSpc>
            </a:pPr>
            <a:r>
              <a:rPr lang="en-US" dirty="0"/>
              <a:t>FastAPI · SQLite · ChromaDB</a:t>
            </a:r>
          </a:p>
          <a:p>
            <a:pPr>
              <a:lnSpc>
                <a:spcPct val="150000"/>
              </a:lnSpc>
            </a:pPr>
            <a:r>
              <a:rPr lang="en-US" dirty="0"/>
              <a:t>Ollama (tiny-Lama 3.1) · Pandas</a:t>
            </a:r>
          </a:p>
          <a:p>
            <a:pPr algn="l">
              <a:buNone/>
            </a:pPr>
            <a:endParaRPr lang="en-US" b="0" i="0" dirty="0"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1616815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2CE9B-10D7-9179-FB59-FB5CB76E6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2237" y="900592"/>
            <a:ext cx="8433391" cy="539388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                          Problem Statement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Key Issues:</a:t>
            </a:r>
            <a:endParaRPr lang="en-US" sz="2000" dirty="0">
              <a:solidFill>
                <a:schemeClr val="accent4"/>
              </a:solidFill>
            </a:endParaRPr>
          </a:p>
          <a:p>
            <a:r>
              <a:rPr lang="en-US" sz="2000" dirty="0"/>
              <a:t>Lab reports are </a:t>
            </a:r>
            <a:r>
              <a:rPr lang="en-US" sz="2000" b="1" dirty="0"/>
              <a:t>numeric &amp; hard to interpret</a:t>
            </a:r>
            <a:endParaRPr lang="en-US" sz="2000" dirty="0"/>
          </a:p>
          <a:p>
            <a:r>
              <a:rPr lang="en-US" sz="2000" dirty="0"/>
              <a:t>Manual review is </a:t>
            </a:r>
            <a:r>
              <a:rPr lang="en-US" sz="2000" b="1" dirty="0"/>
              <a:t>time-consuming</a:t>
            </a:r>
            <a:endParaRPr lang="en-US" sz="2000" dirty="0"/>
          </a:p>
          <a:p>
            <a:r>
              <a:rPr lang="en-US" sz="2000" dirty="0"/>
              <a:t>Critical values may be </a:t>
            </a:r>
            <a:r>
              <a:rPr lang="en-US" sz="2000" b="1" dirty="0"/>
              <a:t>missed or delayed</a:t>
            </a:r>
            <a:endParaRPr lang="en-US" sz="2000" dirty="0"/>
          </a:p>
          <a:p>
            <a:r>
              <a:rPr lang="en-US" sz="2000" dirty="0"/>
              <a:t>AI tools often lack </a:t>
            </a:r>
            <a:r>
              <a:rPr lang="en-US" sz="2000" b="1" dirty="0"/>
              <a:t>clinical safety controls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Need:</a:t>
            </a:r>
            <a:endParaRPr lang="en-US" sz="2000" dirty="0">
              <a:solidFill>
                <a:schemeClr val="accent4"/>
              </a:solidFill>
            </a:endParaRPr>
          </a:p>
          <a:p>
            <a:r>
              <a:rPr lang="en-US" sz="2000" dirty="0"/>
              <a:t>Fast interpretation</a:t>
            </a:r>
          </a:p>
          <a:p>
            <a:r>
              <a:rPr lang="en-US" sz="2000" dirty="0"/>
              <a:t>Safety validation</a:t>
            </a:r>
          </a:p>
          <a:p>
            <a:r>
              <a:rPr lang="en-US" sz="2000" dirty="0"/>
              <a:t>Explainable AI support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455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39D890-4A15-FB60-7892-0C4D78962B9C}"/>
              </a:ext>
            </a:extLst>
          </p:cNvPr>
          <p:cNvSpPr txBox="1"/>
          <p:nvPr/>
        </p:nvSpPr>
        <p:spPr>
          <a:xfrm>
            <a:off x="2413590" y="2285470"/>
            <a:ext cx="6124352" cy="2779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4"/>
                </a:solidFill>
              </a:rPr>
              <a:t>Primary Objectives:</a:t>
            </a:r>
            <a:endParaRPr lang="en-US" sz="2000" dirty="0">
              <a:solidFill>
                <a:schemeClr val="accent4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Convert lab data into </a:t>
            </a:r>
            <a:r>
              <a:rPr lang="en-US" sz="2000" b="1" dirty="0"/>
              <a:t>human-readable insights</a:t>
            </a:r>
            <a:endParaRPr lang="en-US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Automatically flag </a:t>
            </a:r>
            <a:r>
              <a:rPr lang="en-US" sz="2000" b="1" dirty="0"/>
              <a:t>abnormal &amp; critical values</a:t>
            </a:r>
            <a:endParaRPr lang="en-US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Provide </a:t>
            </a:r>
            <a:r>
              <a:rPr lang="en-US" sz="2000" b="1" dirty="0"/>
              <a:t>risk explanations (not diagnosis)</a:t>
            </a:r>
            <a:endParaRPr lang="en-US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Support </a:t>
            </a:r>
            <a:r>
              <a:rPr lang="en-US" sz="2000" b="1" dirty="0"/>
              <a:t>chat-based interaction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48679A-25FC-3019-7BBA-BF5522B6C6B8}"/>
              </a:ext>
            </a:extLst>
          </p:cNvPr>
          <p:cNvSpPr txBox="1"/>
          <p:nvPr/>
        </p:nvSpPr>
        <p:spPr>
          <a:xfrm>
            <a:off x="3434316" y="1362372"/>
            <a:ext cx="61243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Business Objective</a:t>
            </a:r>
          </a:p>
        </p:txBody>
      </p:sp>
    </p:spTree>
    <p:extLst>
      <p:ext uri="{BB962C8B-B14F-4D97-AF65-F5344CB8AC3E}">
        <p14:creationId xmlns:p14="http://schemas.microsoft.com/office/powerpoint/2010/main" val="3742573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97119E-6F03-7992-C648-A5E36FF26B2D}"/>
              </a:ext>
            </a:extLst>
          </p:cNvPr>
          <p:cNvSpPr txBox="1"/>
          <p:nvPr/>
        </p:nvSpPr>
        <p:spPr>
          <a:xfrm>
            <a:off x="2094615" y="1997839"/>
            <a:ext cx="6124352" cy="420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solidFill>
                  <a:srgbClr val="46B1E1"/>
                </a:solidFill>
              </a:rPr>
              <a:t>Target Users: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Primary Users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Doctors &amp; clinicians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Lab technicians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Hospital review teams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Secondary Users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Clinical researchers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Medical trainees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Important Note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Not for direct patient self-diagnosis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D3ECBE-4ED5-57D9-410D-07851FFCBC9F}"/>
              </a:ext>
            </a:extLst>
          </p:cNvPr>
          <p:cNvSpPr txBox="1"/>
          <p:nvPr/>
        </p:nvSpPr>
        <p:spPr>
          <a:xfrm>
            <a:off x="2690038" y="1298576"/>
            <a:ext cx="61243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         Who Uses This System?</a:t>
            </a:r>
          </a:p>
        </p:txBody>
      </p:sp>
    </p:spTree>
    <p:extLst>
      <p:ext uri="{BB962C8B-B14F-4D97-AF65-F5344CB8AC3E}">
        <p14:creationId xmlns:p14="http://schemas.microsoft.com/office/powerpoint/2010/main" val="3132472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A6F1FE-75AF-3DEC-801A-6A053373C344}"/>
              </a:ext>
            </a:extLst>
          </p:cNvPr>
          <p:cNvSpPr txBox="1"/>
          <p:nvPr/>
        </p:nvSpPr>
        <p:spPr>
          <a:xfrm>
            <a:off x="3069772" y="0"/>
            <a:ext cx="1676400" cy="170316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100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AA8657-2C9A-FA94-7A58-1CBFE04D0A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5" y="1016385"/>
            <a:ext cx="11772570" cy="515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07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7EAAFA-DABD-E6FB-B5F5-C6748D0E3E42}"/>
              </a:ext>
            </a:extLst>
          </p:cNvPr>
          <p:cNvSpPr txBox="1"/>
          <p:nvPr/>
        </p:nvSpPr>
        <p:spPr>
          <a:xfrm>
            <a:off x="170121" y="1722222"/>
            <a:ext cx="447630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0B0F0"/>
                </a:solidFill>
              </a:rPr>
              <a:t>Architecture Overview:</a:t>
            </a:r>
          </a:p>
          <a:p>
            <a:pPr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Ingestion Flow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Lab data → Embeddings → Vector store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Application (Query) Flow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User query → Intent → AI / SQL / ML → Response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03FE1-0B4B-2321-6006-686A6050C4E2}"/>
              </a:ext>
            </a:extLst>
          </p:cNvPr>
          <p:cNvSpPr txBox="1"/>
          <p:nvPr/>
        </p:nvSpPr>
        <p:spPr>
          <a:xfrm>
            <a:off x="170121" y="958119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System Architecture (High Level)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FFAE3E-D4BF-1213-E86E-7A8CC9584A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656" y="841161"/>
            <a:ext cx="5419060" cy="541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961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5E14CE5-81B0-8E43-BA18-F6E6A57F5BB7}"/>
              </a:ext>
            </a:extLst>
          </p:cNvPr>
          <p:cNvSpPr txBox="1"/>
          <p:nvPr/>
        </p:nvSpPr>
        <p:spPr>
          <a:xfrm>
            <a:off x="3734154" y="908683"/>
            <a:ext cx="3974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Segoe WPC"/>
              </a:rPr>
              <a:t>Complete Working of the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ED41DC-6E8D-209C-A0C4-3330701AE47A}"/>
              </a:ext>
            </a:extLst>
          </p:cNvPr>
          <p:cNvSpPr txBox="1"/>
          <p:nvPr/>
        </p:nvSpPr>
        <p:spPr>
          <a:xfrm>
            <a:off x="430530" y="1386600"/>
            <a:ext cx="9978744" cy="3543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4B0BE"/>
                </a:solidFill>
                <a:effectLst/>
                <a:latin typeface="Segoe WPC"/>
              </a:rPr>
              <a:t>1. Data Ingestion:</a:t>
            </a:r>
          </a:p>
          <a:p>
            <a:pPr marL="285750" indent="-2857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egoe WPC"/>
              </a:rPr>
              <a:t>Lab results are stored in SQLite database (lab_results.db).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egoe WPC"/>
              </a:rPr>
              <a:t>Patient data is grouped and processed using semantic chunking to create comprehensive      patient histories.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egoe WPC"/>
              </a:rPr>
              <a:t>Each patient's complete lab history is converted into a single semantic chunk with temporal ordering.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egoe WPC"/>
              </a:rPr>
              <a:t>Chunks are converted into vector embeddings using sentence-transformers and stored </a:t>
            </a:r>
            <a:r>
              <a:rPr lang="en-US" sz="2000" dirty="0">
                <a:latin typeface="Segoe WPC"/>
              </a:rPr>
              <a:t>in </a:t>
            </a:r>
            <a:r>
              <a:rPr lang="en-US" sz="2000" b="0" i="0" dirty="0">
                <a:effectLst/>
                <a:latin typeface="Segoe WPC"/>
              </a:rPr>
              <a:t>ChromaDB, forming the knowledge base.</a:t>
            </a:r>
          </a:p>
        </p:txBody>
      </p:sp>
    </p:spTree>
    <p:extLst>
      <p:ext uri="{BB962C8B-B14F-4D97-AF65-F5344CB8AC3E}">
        <p14:creationId xmlns:p14="http://schemas.microsoft.com/office/powerpoint/2010/main" val="3302406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4B9AB-53B4-1E69-502A-930224752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D81C272-35A4-9BB8-5BAD-C879B3FDCA94}"/>
              </a:ext>
            </a:extLst>
          </p:cNvPr>
          <p:cNvSpPr txBox="1"/>
          <p:nvPr/>
        </p:nvSpPr>
        <p:spPr>
          <a:xfrm>
            <a:off x="430530" y="1386600"/>
            <a:ext cx="9978744" cy="335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04B0BE"/>
                </a:solidFill>
                <a:latin typeface="Segoe WPC"/>
              </a:rPr>
              <a:t>2. User Query Flow (Runtime Process):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Segoe WPC"/>
              </a:rPr>
              <a:t>User submits a question through the React-based frontend.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Segoe WPC"/>
              </a:rPr>
              <a:t>The request is handled by the FastAPI backend, which processes the query.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Segoe WPC"/>
              </a:rPr>
              <a:t>The system uses LangGraph agent to classify intent into three categories: RAG, Count, or Risk.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Segoe WPC"/>
              </a:rPr>
              <a:t>Based on intent classification, the appropriate processing path is triggered.</a:t>
            </a:r>
          </a:p>
        </p:txBody>
      </p:sp>
    </p:spTree>
    <p:extLst>
      <p:ext uri="{BB962C8B-B14F-4D97-AF65-F5344CB8AC3E}">
        <p14:creationId xmlns:p14="http://schemas.microsoft.com/office/powerpoint/2010/main" val="493174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3DE5F5-9DE8-1C80-471E-FBE33ADA3A90}"/>
              </a:ext>
            </a:extLst>
          </p:cNvPr>
          <p:cNvSpPr txBox="1"/>
          <p:nvPr/>
        </p:nvSpPr>
        <p:spPr>
          <a:xfrm>
            <a:off x="937260" y="847160"/>
            <a:ext cx="10584180" cy="5442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b="1" i="0" dirty="0">
                <a:solidFill>
                  <a:srgbClr val="04B0BE"/>
                </a:solidFill>
                <a:effectLst/>
                <a:latin typeface="Segoe WPC"/>
              </a:rPr>
              <a:t>3. Intent Processing &amp; Response Generation</a:t>
            </a:r>
          </a:p>
          <a:p>
            <a:pPr algn="l">
              <a:lnSpc>
                <a:spcPct val="150000"/>
              </a:lnSpc>
              <a:buNone/>
            </a:pP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egoe WPC"/>
              </a:rPr>
              <a:t>RAG Intent (Knowledge Retrieval):</a:t>
            </a:r>
            <a:endParaRPr lang="en-US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Segoe WPC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System performs semantic search on ChromaDB to fetch relevant patient lab history.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Retrieved context is filtered and truncated to fit TinyLlama's context window.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Context is passed to local LLM (Ollama - TinyLlama) for natural language answer generation.</a:t>
            </a:r>
          </a:p>
          <a:p>
            <a:pPr algn="l">
              <a:lnSpc>
                <a:spcPct val="150000"/>
              </a:lnSpc>
              <a:buNone/>
            </a:pP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egoe WPC"/>
              </a:rPr>
              <a:t>Count Intent (Statistical Analysis):</a:t>
            </a:r>
            <a:endParaRPr lang="en-US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Segoe WPC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System executes pre-defined SQL aggregation queries on SQLite database.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Results (counts, abnormal results, etc.) are formatted and passed to LLM for professional  summarization.</a:t>
            </a:r>
          </a:p>
          <a:p>
            <a:pPr algn="l">
              <a:lnSpc>
                <a:spcPct val="150000"/>
              </a:lnSpc>
              <a:buNone/>
            </a:pP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egoe WPC"/>
              </a:rPr>
              <a:t>Risk Intent (ML Prediction):</a:t>
            </a:r>
            <a:endParaRPr lang="en-US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Segoe WPC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Patient lab data is fed into a trained Random Forest classifier.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Model predicts risk level: Normal (0), Abnormal (1), or Critical (2).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Risk score and explanation are generated and returned to the user.</a:t>
            </a:r>
          </a:p>
        </p:txBody>
      </p:sp>
    </p:spTree>
    <p:extLst>
      <p:ext uri="{BB962C8B-B14F-4D97-AF65-F5344CB8AC3E}">
        <p14:creationId xmlns:p14="http://schemas.microsoft.com/office/powerpoint/2010/main" val="528595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3EBE02-B3B7-8EF9-86F0-FF1FF672B028}"/>
              </a:ext>
            </a:extLst>
          </p:cNvPr>
          <p:cNvSpPr txBox="1"/>
          <p:nvPr/>
        </p:nvSpPr>
        <p:spPr>
          <a:xfrm>
            <a:off x="350874" y="1265022"/>
            <a:ext cx="4805917" cy="4005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4B0BE"/>
                </a:solidFill>
                <a:effectLst/>
                <a:latin typeface="Segoe WPC"/>
              </a:rPr>
              <a:t>4. Streaming Response Delivery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egoe WPC"/>
              </a:rPr>
              <a:t>The LLM generates the response in streaming mode for real-time user experience.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egoe WPC"/>
              </a:rPr>
              <a:t>FastAPI streams the response back to the React frontend using Server-Sent Events (SSE).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egoe WPC"/>
              </a:rPr>
              <a:t>User sees the answer appear progressively in the chat interface.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5CC815-C3F1-7EAF-0105-F49EF05AC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889" y="871998"/>
            <a:ext cx="5412849" cy="545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884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B0ACB6-4141-261B-C742-47B3EA662123}"/>
              </a:ext>
            </a:extLst>
          </p:cNvPr>
          <p:cNvSpPr txBox="1"/>
          <p:nvPr/>
        </p:nvSpPr>
        <p:spPr>
          <a:xfrm>
            <a:off x="134679" y="1326547"/>
            <a:ext cx="53056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Reporting &amp; Analytics APIs: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 statistical insights from lab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Normal, abnormal, and critical lab results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High-risk patients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Unreviewed critical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 fast aggregation using optimized database queries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2B08E1-6592-B10E-4B39-FA23A8CC6D44}"/>
              </a:ext>
            </a:extLst>
          </p:cNvPr>
          <p:cNvSpPr txBox="1"/>
          <p:nvPr/>
        </p:nvSpPr>
        <p:spPr>
          <a:xfrm>
            <a:off x="2328531" y="947702"/>
            <a:ext cx="61243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API Functional Groups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2C392E-5F4D-73A6-469E-94FA1A136FD8}"/>
              </a:ext>
            </a:extLst>
          </p:cNvPr>
          <p:cNvSpPr txBox="1"/>
          <p:nvPr/>
        </p:nvSpPr>
        <p:spPr>
          <a:xfrm>
            <a:off x="134679" y="3634871"/>
            <a:ext cx="61243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Conversational AI (Chat) APIs: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 natural language interaction with the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 real-time, streaming responses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Dynamically combine: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Database results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Risk prediction outputs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Retrieved medical context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Route queries intelligently based on user intent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D89726-82A6-7320-25FD-B4299BDCF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325" y="1800505"/>
            <a:ext cx="5662230" cy="284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660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835A96-94E1-2EB6-1EA2-C61A497B015B}"/>
              </a:ext>
            </a:extLst>
          </p:cNvPr>
          <p:cNvSpPr txBox="1"/>
          <p:nvPr/>
        </p:nvSpPr>
        <p:spPr>
          <a:xfrm>
            <a:off x="3030279" y="1720840"/>
            <a:ext cx="6124352" cy="4295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46B1E1"/>
                </a:solidFill>
              </a:rPr>
              <a:t>What This Project Demonstrates:</a:t>
            </a:r>
            <a:endParaRPr lang="en-US" dirty="0">
              <a:solidFill>
                <a:srgbClr val="46B1E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Real-world healthcare AI design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Combination of rules + ML + LLM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Safe &amp; explainable clinical support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Privacy-first local deployment</a:t>
            </a:r>
          </a:p>
          <a:p>
            <a:pPr>
              <a:buNone/>
            </a:pPr>
            <a:r>
              <a:rPr lang="en-US" b="1" dirty="0">
                <a:solidFill>
                  <a:srgbClr val="46B1E1"/>
                </a:solidFill>
              </a:rPr>
              <a:t>Future Enhancements:</a:t>
            </a:r>
            <a:endParaRPr lang="en-US" dirty="0">
              <a:solidFill>
                <a:srgbClr val="46B1E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Doctor review dashboard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Authentication &amp; audit logs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FHIR / HL7 integration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Multilingual support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CBEE72-C2F3-83B3-2CAA-38E5114C2366}"/>
              </a:ext>
            </a:extLst>
          </p:cNvPr>
          <p:cNvSpPr txBox="1"/>
          <p:nvPr/>
        </p:nvSpPr>
        <p:spPr>
          <a:xfrm>
            <a:off x="2870790" y="1160352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Conclusion &amp; Future Scope</a:t>
            </a:r>
          </a:p>
        </p:txBody>
      </p:sp>
    </p:spTree>
    <p:extLst>
      <p:ext uri="{BB962C8B-B14F-4D97-AF65-F5344CB8AC3E}">
        <p14:creationId xmlns:p14="http://schemas.microsoft.com/office/powerpoint/2010/main" val="823606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F555351-7178-1865-0E06-EECE16586F35}"/>
              </a:ext>
            </a:extLst>
          </p:cNvPr>
          <p:cNvGrpSpPr/>
          <p:nvPr/>
        </p:nvGrpSpPr>
        <p:grpSpPr>
          <a:xfrm>
            <a:off x="2684833" y="913613"/>
            <a:ext cx="9466945" cy="5377623"/>
            <a:chOff x="-975824" y="-416668"/>
            <a:chExt cx="15306127" cy="9984980"/>
          </a:xfrm>
        </p:grpSpPr>
        <p:sp>
          <p:nvSpPr>
            <p:cNvPr id="3" name="Freeform 3" descr="A close-up of hands shaking  Description automatically generated">
              <a:extLst>
                <a:ext uri="{FF2B5EF4-FFF2-40B4-BE49-F238E27FC236}">
                  <a16:creationId xmlns:a16="http://schemas.microsoft.com/office/drawing/2014/main" id="{965050EE-0DB3-E5C3-D1A7-2BD9EC6A9EA4}"/>
                </a:ext>
              </a:extLst>
            </p:cNvPr>
            <p:cNvSpPr/>
            <p:nvPr/>
          </p:nvSpPr>
          <p:spPr>
            <a:xfrm>
              <a:off x="-975824" y="-416668"/>
              <a:ext cx="15306127" cy="9984980"/>
            </a:xfrm>
            <a:custGeom>
              <a:avLst/>
              <a:gdLst/>
              <a:ahLst/>
              <a:cxnLst/>
              <a:rect l="l" t="t" r="r" b="b"/>
              <a:pathLst>
                <a:path w="19339306" h="13716000">
                  <a:moveTo>
                    <a:pt x="0" y="0"/>
                  </a:moveTo>
                  <a:lnTo>
                    <a:pt x="19339306" y="0"/>
                  </a:lnTo>
                  <a:lnTo>
                    <a:pt x="1933930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4"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4">
            <a:extLst>
              <a:ext uri="{FF2B5EF4-FFF2-40B4-BE49-F238E27FC236}">
                <a16:creationId xmlns:a16="http://schemas.microsoft.com/office/drawing/2014/main" id="{5B1A0C04-4125-BD4E-B212-97344E774AAF}"/>
              </a:ext>
            </a:extLst>
          </p:cNvPr>
          <p:cNvGrpSpPr/>
          <p:nvPr/>
        </p:nvGrpSpPr>
        <p:grpSpPr>
          <a:xfrm flipH="1">
            <a:off x="1" y="1010439"/>
            <a:ext cx="22140082" cy="5377623"/>
            <a:chOff x="38" y="435424"/>
            <a:chExt cx="11708257" cy="13716000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B26120-C062-1B7F-7B8B-600A61714375}"/>
                </a:ext>
              </a:extLst>
            </p:cNvPr>
            <p:cNvSpPr/>
            <p:nvPr/>
          </p:nvSpPr>
          <p:spPr>
            <a:xfrm>
              <a:off x="38" y="435424"/>
              <a:ext cx="11708257" cy="13716000"/>
            </a:xfrm>
            <a:custGeom>
              <a:avLst/>
              <a:gdLst/>
              <a:ahLst/>
              <a:cxnLst/>
              <a:rect l="l" t="t" r="r" b="b"/>
              <a:pathLst>
                <a:path w="11708257" h="13716000">
                  <a:moveTo>
                    <a:pt x="0" y="0"/>
                  </a:moveTo>
                  <a:lnTo>
                    <a:pt x="11708257" y="0"/>
                  </a:lnTo>
                  <a:lnTo>
                    <a:pt x="11708257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73000">
                  <a:srgbClr val="FFFFFF">
                    <a:alpha val="0"/>
                  </a:srgbClr>
                </a:gs>
              </a:gsLst>
              <a:lin ang="10800000"/>
            </a:gra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5" name="Group 4">
            <a:extLst>
              <a:ext uri="{FF2B5EF4-FFF2-40B4-BE49-F238E27FC236}">
                <a16:creationId xmlns:a16="http://schemas.microsoft.com/office/drawing/2014/main" id="{E981453A-724C-B7C4-29C1-21E5FCC37C09}"/>
              </a:ext>
            </a:extLst>
          </p:cNvPr>
          <p:cNvGrpSpPr/>
          <p:nvPr/>
        </p:nvGrpSpPr>
        <p:grpSpPr>
          <a:xfrm flipH="1">
            <a:off x="152401" y="1162839"/>
            <a:ext cx="22140082" cy="5225223"/>
            <a:chOff x="38" y="435424"/>
            <a:chExt cx="11708257" cy="13716000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F697D73D-208D-437F-0FA6-E4591E44619B}"/>
                </a:ext>
              </a:extLst>
            </p:cNvPr>
            <p:cNvSpPr/>
            <p:nvPr/>
          </p:nvSpPr>
          <p:spPr>
            <a:xfrm>
              <a:off x="38" y="435424"/>
              <a:ext cx="11708257" cy="13716000"/>
            </a:xfrm>
            <a:custGeom>
              <a:avLst/>
              <a:gdLst/>
              <a:ahLst/>
              <a:cxnLst/>
              <a:rect l="l" t="t" r="r" b="b"/>
              <a:pathLst>
                <a:path w="11708257" h="13716000">
                  <a:moveTo>
                    <a:pt x="0" y="0"/>
                  </a:moveTo>
                  <a:lnTo>
                    <a:pt x="11708257" y="0"/>
                  </a:lnTo>
                  <a:lnTo>
                    <a:pt x="11708257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73000">
                  <a:srgbClr val="FFFFFF">
                    <a:alpha val="0"/>
                  </a:srgbClr>
                </a:gs>
              </a:gsLst>
              <a:lin ang="10800000"/>
            </a:gra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6">
            <a:extLst>
              <a:ext uri="{FF2B5EF4-FFF2-40B4-BE49-F238E27FC236}">
                <a16:creationId xmlns:a16="http://schemas.microsoft.com/office/drawing/2014/main" id="{416BF7F5-AEB0-706E-7736-E48361626631}"/>
              </a:ext>
            </a:extLst>
          </p:cNvPr>
          <p:cNvGrpSpPr/>
          <p:nvPr/>
        </p:nvGrpSpPr>
        <p:grpSpPr>
          <a:xfrm>
            <a:off x="-2662897" y="2460939"/>
            <a:ext cx="9598132" cy="5538788"/>
            <a:chOff x="-3817496" y="-1248579"/>
            <a:chExt cx="12797509" cy="7385050"/>
          </a:xfrm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4F11AA2C-7E0F-F553-A966-01140A0ECA81}"/>
                </a:ext>
              </a:extLst>
            </p:cNvPr>
            <p:cNvSpPr/>
            <p:nvPr/>
          </p:nvSpPr>
          <p:spPr>
            <a:xfrm>
              <a:off x="-3817496" y="-1248579"/>
              <a:ext cx="9555500" cy="7385050"/>
            </a:xfrm>
            <a:custGeom>
              <a:avLst/>
              <a:gdLst/>
              <a:ahLst/>
              <a:cxnLst/>
              <a:rect l="l" t="t" r="r" b="b"/>
              <a:pathLst>
                <a:path w="9555500" h="7385050">
                  <a:moveTo>
                    <a:pt x="0" y="0"/>
                  </a:moveTo>
                  <a:lnTo>
                    <a:pt x="9555500" y="0"/>
                  </a:lnTo>
                  <a:lnTo>
                    <a:pt x="9555500" y="7385050"/>
                  </a:lnTo>
                  <a:lnTo>
                    <a:pt x="0" y="73850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160" r="-491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8">
              <a:extLst>
                <a:ext uri="{FF2B5EF4-FFF2-40B4-BE49-F238E27FC236}">
                  <a16:creationId xmlns:a16="http://schemas.microsoft.com/office/drawing/2014/main" id="{341F2F87-5AB3-DF24-1415-3880DA6D620E}"/>
                </a:ext>
              </a:extLst>
            </p:cNvPr>
            <p:cNvSpPr txBox="1"/>
            <p:nvPr/>
          </p:nvSpPr>
          <p:spPr>
            <a:xfrm>
              <a:off x="-575492" y="-311144"/>
              <a:ext cx="9555505" cy="30763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720"/>
                </a:lnSpc>
              </a:pPr>
              <a:r>
                <a:rPr lang="en-US" sz="9000" b="1" dirty="0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 </a:t>
              </a:r>
              <a:r>
                <a:rPr lang="en-US" sz="9000" b="1" dirty="0">
                  <a:solidFill>
                    <a:srgbClr val="0062C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Thank You</a:t>
              </a:r>
            </a:p>
          </p:txBody>
        </p:sp>
      </p:grpSp>
      <p:grpSp>
        <p:nvGrpSpPr>
          <p:cNvPr id="7" name="Group 9">
            <a:extLst>
              <a:ext uri="{FF2B5EF4-FFF2-40B4-BE49-F238E27FC236}">
                <a16:creationId xmlns:a16="http://schemas.microsoft.com/office/drawing/2014/main" id="{7DFF7D09-C5E4-1BE0-663F-60D491FEE33C}"/>
              </a:ext>
            </a:extLst>
          </p:cNvPr>
          <p:cNvGrpSpPr/>
          <p:nvPr/>
        </p:nvGrpSpPr>
        <p:grpSpPr>
          <a:xfrm>
            <a:off x="389265" y="2151439"/>
            <a:ext cx="5925274" cy="1628346"/>
            <a:chOff x="0" y="0"/>
            <a:chExt cx="7900365" cy="2171128"/>
          </a:xfrm>
        </p:grpSpPr>
        <p:sp>
          <p:nvSpPr>
            <p:cNvPr id="8" name="Freeform 10" descr="A blue and grey text on a black background  AI-generated content may be incorrect.">
              <a:extLst>
                <a:ext uri="{FF2B5EF4-FFF2-40B4-BE49-F238E27FC236}">
                  <a16:creationId xmlns:a16="http://schemas.microsoft.com/office/drawing/2014/main" id="{F1D69739-B928-1AA2-F878-E39642E806B9}"/>
                </a:ext>
              </a:extLst>
            </p:cNvPr>
            <p:cNvSpPr/>
            <p:nvPr/>
          </p:nvSpPr>
          <p:spPr>
            <a:xfrm>
              <a:off x="0" y="0"/>
              <a:ext cx="7900416" cy="2171192"/>
            </a:xfrm>
            <a:custGeom>
              <a:avLst/>
              <a:gdLst/>
              <a:ahLst/>
              <a:cxnLst/>
              <a:rect l="l" t="t" r="r" b="b"/>
              <a:pathLst>
                <a:path w="7900416" h="2171192">
                  <a:moveTo>
                    <a:pt x="0" y="0"/>
                  </a:moveTo>
                  <a:lnTo>
                    <a:pt x="7900416" y="0"/>
                  </a:lnTo>
                  <a:lnTo>
                    <a:pt x="7900416" y="2171192"/>
                  </a:lnTo>
                  <a:lnTo>
                    <a:pt x="0" y="2171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8507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Monthly Review Deck - July 2024  -  Read-Only</Template>
  <TotalTime>712</TotalTime>
  <Words>657</Words>
  <Application>Microsoft Office PowerPoint</Application>
  <PresentationFormat>Widescreen</PresentationFormat>
  <Paragraphs>109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Helvetica World Bold</vt:lpstr>
      <vt:lpstr>Aptos</vt:lpstr>
      <vt:lpstr>Arial</vt:lpstr>
      <vt:lpstr>Cambria</vt:lpstr>
      <vt:lpstr>Cambria Bold</vt:lpstr>
      <vt:lpstr>Segoe WPC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Vinodkumar Chandrasekar</dc:creator>
  <cp:lastModifiedBy>Kishore Gopi</cp:lastModifiedBy>
  <cp:revision>22</cp:revision>
  <dcterms:created xsi:type="dcterms:W3CDTF">2024-07-26T10:01:03Z</dcterms:created>
  <dcterms:modified xsi:type="dcterms:W3CDTF">2026-02-04T13:13:39Z</dcterms:modified>
</cp:coreProperties>
</file>